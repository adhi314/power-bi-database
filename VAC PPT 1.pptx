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4"/>
  </p:sldMasterIdLst>
  <p:notesMasterIdLst>
    <p:notesMasterId r:id="rId23"/>
  </p:notesMasterIdLst>
  <p:sldIdLst>
    <p:sldId id="292" r:id="rId5"/>
    <p:sldId id="332" r:id="rId6"/>
    <p:sldId id="333" r:id="rId7"/>
    <p:sldId id="334" r:id="rId8"/>
    <p:sldId id="309" r:id="rId9"/>
    <p:sldId id="335" r:id="rId10"/>
    <p:sldId id="321" r:id="rId11"/>
    <p:sldId id="312" r:id="rId12"/>
    <p:sldId id="310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4" r:id="rId21"/>
    <p:sldId id="33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19" autoAdjust="0"/>
  </p:normalViewPr>
  <p:slideViewPr>
    <p:cSldViewPr snapToGrid="0">
      <p:cViewPr>
        <p:scale>
          <a:sx n="75" d="100"/>
          <a:sy n="75" d="100"/>
        </p:scale>
        <p:origin x="-960" y="-2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509919-36B5-4162-8899-417A9F93473B}" type="doc">
      <dgm:prSet loTypeId="urn:microsoft.com/office/officeart/2016/7/layout/LinearBlockProcessNumbered#1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AF9DEE3-8444-4CA1-8BC2-D834D3ED6C74}">
      <dgm:prSet/>
      <dgm:spPr/>
      <dgm:t>
        <a:bodyPr/>
        <a:lstStyle/>
        <a:p>
          <a:r>
            <a:rPr lang="en-US" dirty="0"/>
            <a:t>DATASET REGARDING CARS BRANDS DETAILS (DATA CLEANING , DATA MODELING &amp; DATA VISUALIZATION)</a:t>
          </a:r>
        </a:p>
      </dgm:t>
    </dgm:pt>
    <dgm:pt modelId="{205BDF49-153E-4CE8-8402-E23704595764}" type="parTrans" cxnId="{0A7DA706-17DD-412A-8BE0-4F6529274E66}">
      <dgm:prSet/>
      <dgm:spPr/>
      <dgm:t>
        <a:bodyPr/>
        <a:lstStyle/>
        <a:p>
          <a:endParaRPr lang="en-US"/>
        </a:p>
      </dgm:t>
    </dgm:pt>
    <dgm:pt modelId="{23210C7F-6847-491E-BE1F-A79529AF2B8B}" type="sibTrans" cxnId="{0A7DA706-17DD-412A-8BE0-4F6529274E6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B2B879BD-3840-400C-92BD-B2C2383358D7}">
      <dgm:prSet/>
      <dgm:spPr/>
      <dgm:t>
        <a:bodyPr/>
        <a:lstStyle/>
        <a:p>
          <a:r>
            <a:rPr lang="en-US" dirty="0"/>
            <a:t>DATASET REGARDING MUSIC ARTIST (DATA CLEANING , DATA MODELING &amp; VISUALIZATION)</a:t>
          </a:r>
        </a:p>
      </dgm:t>
    </dgm:pt>
    <dgm:pt modelId="{09440D86-F3E6-4A3C-9E78-1AFC56348641}" type="parTrans" cxnId="{42CDCACA-F394-4044-BBF6-522A0005ABCB}">
      <dgm:prSet/>
      <dgm:spPr/>
      <dgm:t>
        <a:bodyPr/>
        <a:lstStyle/>
        <a:p>
          <a:endParaRPr lang="en-US"/>
        </a:p>
      </dgm:t>
    </dgm:pt>
    <dgm:pt modelId="{FBAA44FF-54DE-45C8-9FAC-512C40277233}" type="sibTrans" cxnId="{42CDCACA-F394-4044-BBF6-522A0005ABCB}">
      <dgm:prSet phldrT="02" phldr="0"/>
      <dgm:spPr/>
      <dgm:t>
        <a:bodyPr/>
        <a:lstStyle/>
        <a:p>
          <a:r>
            <a:rPr lang="en-US"/>
            <a:t>02</a:t>
          </a:r>
          <a:endParaRPr lang="en-US" dirty="0"/>
        </a:p>
      </dgm:t>
    </dgm:pt>
    <dgm:pt modelId="{09F899AB-70CA-46DA-8F8C-58514A9FEF67}" type="pres">
      <dgm:prSet presAssocID="{15509919-36B5-4162-8899-417A9F93473B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E708B2C-9056-43B8-820C-8D4D2D591614}" type="pres">
      <dgm:prSet presAssocID="{AAF9DEE3-8444-4CA1-8BC2-D834D3ED6C74}" presName="compositeNode" presStyleCnt="0">
        <dgm:presLayoutVars>
          <dgm:bulletEnabled val="1"/>
        </dgm:presLayoutVars>
      </dgm:prSet>
      <dgm:spPr/>
    </dgm:pt>
    <dgm:pt modelId="{F4992080-7D4E-4F2B-B608-170DDBB6006A}" type="pres">
      <dgm:prSet presAssocID="{AAF9DEE3-8444-4CA1-8BC2-D834D3ED6C74}" presName="bgRect" presStyleLbl="alignNode1" presStyleIdx="0" presStyleCnt="2"/>
      <dgm:spPr/>
      <dgm:t>
        <a:bodyPr/>
        <a:lstStyle/>
        <a:p>
          <a:endParaRPr lang="en-US"/>
        </a:p>
      </dgm:t>
    </dgm:pt>
    <dgm:pt modelId="{15536E38-36FE-4A51-B620-2715BFAD5475}" type="pres">
      <dgm:prSet presAssocID="{23210C7F-6847-491E-BE1F-A79529AF2B8B}" presName="sibTransNodeRect" presStyleLbl="align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58057C-23C1-45AE-9273-5935A8F6104B}" type="pres">
      <dgm:prSet presAssocID="{AAF9DEE3-8444-4CA1-8BC2-D834D3ED6C74}" presName="nodeRect" presStyleLbl="align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52B8B6-958E-480C-9455-911A104C8C73}" type="pres">
      <dgm:prSet presAssocID="{23210C7F-6847-491E-BE1F-A79529AF2B8B}" presName="sibTrans" presStyleCnt="0"/>
      <dgm:spPr/>
    </dgm:pt>
    <dgm:pt modelId="{070CFBFA-AE62-406D-B2E3-4A871FE3EC95}" type="pres">
      <dgm:prSet presAssocID="{B2B879BD-3840-400C-92BD-B2C2383358D7}" presName="compositeNode" presStyleCnt="0">
        <dgm:presLayoutVars>
          <dgm:bulletEnabled val="1"/>
        </dgm:presLayoutVars>
      </dgm:prSet>
      <dgm:spPr/>
    </dgm:pt>
    <dgm:pt modelId="{89A9B4CF-6439-46B1-B6A9-1D6CD5034774}" type="pres">
      <dgm:prSet presAssocID="{B2B879BD-3840-400C-92BD-B2C2383358D7}" presName="bgRect" presStyleLbl="alignNode1" presStyleIdx="1" presStyleCnt="2"/>
      <dgm:spPr/>
      <dgm:t>
        <a:bodyPr/>
        <a:lstStyle/>
        <a:p>
          <a:endParaRPr lang="en-US"/>
        </a:p>
      </dgm:t>
    </dgm:pt>
    <dgm:pt modelId="{379B8CE4-8135-4F2C-A5A0-E55EBE328E9A}" type="pres">
      <dgm:prSet presAssocID="{FBAA44FF-54DE-45C8-9FAC-512C40277233}" presName="sibTransNodeRect" presStyleLbl="align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2B2B99-E41C-48B6-9241-186B3896CDB2}" type="pres">
      <dgm:prSet presAssocID="{B2B879BD-3840-400C-92BD-B2C2383358D7}" presName="nodeRect" presStyleLbl="align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E5EF465-680F-4962-87CA-2B44BA61BBF3}" type="presOf" srcId="{AAF9DEE3-8444-4CA1-8BC2-D834D3ED6C74}" destId="{F4992080-7D4E-4F2B-B608-170DDBB6006A}" srcOrd="0" destOrd="0" presId="urn:microsoft.com/office/officeart/2016/7/layout/LinearBlockProcessNumbered#1"/>
    <dgm:cxn modelId="{109C0B15-B806-4127-A7EA-6F2FD85C2B5C}" type="presOf" srcId="{AAF9DEE3-8444-4CA1-8BC2-D834D3ED6C74}" destId="{B158057C-23C1-45AE-9273-5935A8F6104B}" srcOrd="1" destOrd="0" presId="urn:microsoft.com/office/officeart/2016/7/layout/LinearBlockProcessNumbered#1"/>
    <dgm:cxn modelId="{BE05FF76-48E4-476C-9495-A13A63321F9B}" type="presOf" srcId="{B2B879BD-3840-400C-92BD-B2C2383358D7}" destId="{89A9B4CF-6439-46B1-B6A9-1D6CD5034774}" srcOrd="0" destOrd="0" presId="urn:microsoft.com/office/officeart/2016/7/layout/LinearBlockProcessNumbered#1"/>
    <dgm:cxn modelId="{E774C62E-62A2-478F-B2D4-49AC51F9A4FC}" type="presOf" srcId="{FBAA44FF-54DE-45C8-9FAC-512C40277233}" destId="{379B8CE4-8135-4F2C-A5A0-E55EBE328E9A}" srcOrd="0" destOrd="0" presId="urn:microsoft.com/office/officeart/2016/7/layout/LinearBlockProcessNumbered#1"/>
    <dgm:cxn modelId="{28938E20-006F-438A-BC3B-539C09A41AF8}" type="presOf" srcId="{23210C7F-6847-491E-BE1F-A79529AF2B8B}" destId="{15536E38-36FE-4A51-B620-2715BFAD5475}" srcOrd="0" destOrd="0" presId="urn:microsoft.com/office/officeart/2016/7/layout/LinearBlockProcessNumbered#1"/>
    <dgm:cxn modelId="{0A7DA706-17DD-412A-8BE0-4F6529274E66}" srcId="{15509919-36B5-4162-8899-417A9F93473B}" destId="{AAF9DEE3-8444-4CA1-8BC2-D834D3ED6C74}" srcOrd="0" destOrd="0" parTransId="{205BDF49-153E-4CE8-8402-E23704595764}" sibTransId="{23210C7F-6847-491E-BE1F-A79529AF2B8B}"/>
    <dgm:cxn modelId="{42CDCACA-F394-4044-BBF6-522A0005ABCB}" srcId="{15509919-36B5-4162-8899-417A9F93473B}" destId="{B2B879BD-3840-400C-92BD-B2C2383358D7}" srcOrd="1" destOrd="0" parTransId="{09440D86-F3E6-4A3C-9E78-1AFC56348641}" sibTransId="{FBAA44FF-54DE-45C8-9FAC-512C40277233}"/>
    <dgm:cxn modelId="{840BB0C7-181A-4BA4-9324-C35937B4BA77}" type="presOf" srcId="{15509919-36B5-4162-8899-417A9F93473B}" destId="{09F899AB-70CA-46DA-8F8C-58514A9FEF67}" srcOrd="0" destOrd="0" presId="urn:microsoft.com/office/officeart/2016/7/layout/LinearBlockProcessNumbered#1"/>
    <dgm:cxn modelId="{6AB3E3E3-CAC3-4821-AAD0-21289FC8AF3F}" type="presOf" srcId="{B2B879BD-3840-400C-92BD-B2C2383358D7}" destId="{9F2B2B99-E41C-48B6-9241-186B3896CDB2}" srcOrd="1" destOrd="0" presId="urn:microsoft.com/office/officeart/2016/7/layout/LinearBlockProcessNumbered#1"/>
    <dgm:cxn modelId="{90D3E440-E32E-4616-A794-C357B58C725C}" type="presParOf" srcId="{09F899AB-70CA-46DA-8F8C-58514A9FEF67}" destId="{9E708B2C-9056-43B8-820C-8D4D2D591614}" srcOrd="0" destOrd="0" presId="urn:microsoft.com/office/officeart/2016/7/layout/LinearBlockProcessNumbered#1"/>
    <dgm:cxn modelId="{94905F72-0547-4876-85BD-1CE201853F0E}" type="presParOf" srcId="{9E708B2C-9056-43B8-820C-8D4D2D591614}" destId="{F4992080-7D4E-4F2B-B608-170DDBB6006A}" srcOrd="0" destOrd="0" presId="urn:microsoft.com/office/officeart/2016/7/layout/LinearBlockProcessNumbered#1"/>
    <dgm:cxn modelId="{32F232D9-C82F-455D-A4CB-8A6F950974CB}" type="presParOf" srcId="{9E708B2C-9056-43B8-820C-8D4D2D591614}" destId="{15536E38-36FE-4A51-B620-2715BFAD5475}" srcOrd="1" destOrd="0" presId="urn:microsoft.com/office/officeart/2016/7/layout/LinearBlockProcessNumbered#1"/>
    <dgm:cxn modelId="{E1630E94-0972-452E-A256-8FE168492E2F}" type="presParOf" srcId="{9E708B2C-9056-43B8-820C-8D4D2D591614}" destId="{B158057C-23C1-45AE-9273-5935A8F6104B}" srcOrd="2" destOrd="0" presId="urn:microsoft.com/office/officeart/2016/7/layout/LinearBlockProcessNumbered#1"/>
    <dgm:cxn modelId="{3D53040A-6114-439D-91AE-A92823686B42}" type="presParOf" srcId="{09F899AB-70CA-46DA-8F8C-58514A9FEF67}" destId="{5D52B8B6-958E-480C-9455-911A104C8C73}" srcOrd="1" destOrd="0" presId="urn:microsoft.com/office/officeart/2016/7/layout/LinearBlockProcessNumbered#1"/>
    <dgm:cxn modelId="{71CD1E60-9941-432A-AAD3-6BEE9759C7CA}" type="presParOf" srcId="{09F899AB-70CA-46DA-8F8C-58514A9FEF67}" destId="{070CFBFA-AE62-406D-B2E3-4A871FE3EC95}" srcOrd="2" destOrd="0" presId="urn:microsoft.com/office/officeart/2016/7/layout/LinearBlockProcessNumbered#1"/>
    <dgm:cxn modelId="{E24E5F24-B05D-485A-B1E3-F029361EAC2F}" type="presParOf" srcId="{070CFBFA-AE62-406D-B2E3-4A871FE3EC95}" destId="{89A9B4CF-6439-46B1-B6A9-1D6CD5034774}" srcOrd="0" destOrd="0" presId="urn:microsoft.com/office/officeart/2016/7/layout/LinearBlockProcessNumbered#1"/>
    <dgm:cxn modelId="{B1A2A29E-FBA6-4188-BE73-D4752962B995}" type="presParOf" srcId="{070CFBFA-AE62-406D-B2E3-4A871FE3EC95}" destId="{379B8CE4-8135-4F2C-A5A0-E55EBE328E9A}" srcOrd="1" destOrd="0" presId="urn:microsoft.com/office/officeart/2016/7/layout/LinearBlockProcessNumbered#1"/>
    <dgm:cxn modelId="{F07F5881-E747-4C57-B3A8-80D81CA9E653}" type="presParOf" srcId="{070CFBFA-AE62-406D-B2E3-4A871FE3EC95}" destId="{9F2B2B99-E41C-48B6-9241-186B3896CDB2}" srcOrd="2" destOrd="0" presId="urn:microsoft.com/office/officeart/2016/7/layout/LinearBlockProcessNumbered#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4992080-7D4E-4F2B-B608-170DDBB6006A}">
      <dsp:nvSpPr>
        <dsp:cNvPr id="0" name=""/>
        <dsp:cNvSpPr/>
      </dsp:nvSpPr>
      <dsp:spPr>
        <a:xfrm>
          <a:off x="3143" y="0"/>
          <a:ext cx="4832746" cy="37256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7368" tIns="0" rIns="477368" bIns="33020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DATASET REGARDING CARS BRANDS DETAILS (DATA CLEANING , DATA MODELING &amp; DATA VISUALIZATION)</a:t>
          </a:r>
        </a:p>
      </dsp:txBody>
      <dsp:txXfrm>
        <a:off x="3143" y="1490244"/>
        <a:ext cx="4832746" cy="2235367"/>
      </dsp:txXfrm>
    </dsp:sp>
    <dsp:sp modelId="{15536E38-36FE-4A51-B620-2715BFAD5475}">
      <dsp:nvSpPr>
        <dsp:cNvPr id="0" name=""/>
        <dsp:cNvSpPr/>
      </dsp:nvSpPr>
      <dsp:spPr>
        <a:xfrm>
          <a:off x="3143" y="0"/>
          <a:ext cx="4832746" cy="1490244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7368" tIns="165100" rIns="477368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01</a:t>
          </a:r>
          <a:endParaRPr lang="en-US" sz="6600" kern="1200" dirty="0"/>
        </a:p>
      </dsp:txBody>
      <dsp:txXfrm>
        <a:off x="3143" y="0"/>
        <a:ext cx="4832746" cy="1490244"/>
      </dsp:txXfrm>
    </dsp:sp>
    <dsp:sp modelId="{89A9B4CF-6439-46B1-B6A9-1D6CD5034774}">
      <dsp:nvSpPr>
        <dsp:cNvPr id="0" name=""/>
        <dsp:cNvSpPr/>
      </dsp:nvSpPr>
      <dsp:spPr>
        <a:xfrm>
          <a:off x="5222509" y="0"/>
          <a:ext cx="4832746" cy="37256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7368" tIns="0" rIns="477368" bIns="33020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DATASET REGARDING MUSIC ARTIST (DATA CLEANING , DATA MODELING &amp; VISUALIZATION)</a:t>
          </a:r>
        </a:p>
      </dsp:txBody>
      <dsp:txXfrm>
        <a:off x="5222509" y="1490244"/>
        <a:ext cx="4832746" cy="2235367"/>
      </dsp:txXfrm>
    </dsp:sp>
    <dsp:sp modelId="{379B8CE4-8135-4F2C-A5A0-E55EBE328E9A}">
      <dsp:nvSpPr>
        <dsp:cNvPr id="0" name=""/>
        <dsp:cNvSpPr/>
      </dsp:nvSpPr>
      <dsp:spPr>
        <a:xfrm>
          <a:off x="5222509" y="0"/>
          <a:ext cx="4832746" cy="1490244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7368" tIns="165100" rIns="477368" bIns="165100" numCol="1" spcCol="1270" anchor="ctr" anchorCtr="0">
          <a:noAutofit/>
        </a:bodyPr>
        <a:lstStyle/>
        <a:p>
          <a:pPr lvl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600" kern="1200"/>
            <a:t>02</a:t>
          </a:r>
          <a:endParaRPr lang="en-US" sz="6600" kern="1200" dirty="0"/>
        </a:p>
      </dsp:txBody>
      <dsp:txXfrm>
        <a:off x="5222509" y="0"/>
        <a:ext cx="4832746" cy="1490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#1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97D4F0E7-A380-4E8A-A5E6-02A2C57BE889}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{5712BDC4-329B-45B2-9194-A148ABB6560A}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{8984278A-33F0-4B08-ABC0-F48449CE37F3}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AE58B-DE29-4E75-AF3D-ABB5BF168E0B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38388-D0FC-4B10-91EB-36C148CB7F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22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38388-D0FC-4B10-91EB-36C148CB7F9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490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1154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7259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41312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04642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8256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07855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3522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4311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6250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7527671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628823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8462263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787763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48748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8745672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2831332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517702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717270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096" y="2235976"/>
            <a:ext cx="10354614" cy="1193024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tx1">
                    <a:lumMod val="75000"/>
                  </a:schemeClr>
                </a:solidFill>
              </a:rPr>
              <a:t>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3635" y="4483608"/>
            <a:ext cx="4775075" cy="2088282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ADITHYAN B</a:t>
            </a:r>
          </a:p>
          <a:p>
            <a:pPr algn="r"/>
            <a:r>
              <a:rPr lang="en-US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25MIB003</a:t>
            </a:r>
          </a:p>
        </p:txBody>
      </p:sp>
      <p:pic>
        <p:nvPicPr>
          <p:cNvPr id="1026" name="Picture 2" descr="POWER BI LOGO1">
            <a:extLst>
              <a:ext uri="{FF2B5EF4-FFF2-40B4-BE49-F238E27FC236}">
                <a16:creationId xmlns:a16="http://schemas.microsoft.com/office/drawing/2014/main" xmlns="" id="{6239A9A9-AEFF-6AB9-51B1-64236F929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4804" y="476518"/>
            <a:ext cx="903442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15208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5082FB-EA0D-2188-24C3-BDBFE6B3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769" y="173671"/>
            <a:ext cx="10058400" cy="137160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POWER BI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46E8CBD-F59D-B667-BC5C-F0A27D0BF0D5}"/>
              </a:ext>
            </a:extLst>
          </p:cNvPr>
          <p:cNvSpPr txBox="1"/>
          <p:nvPr/>
        </p:nvSpPr>
        <p:spPr>
          <a:xfrm>
            <a:off x="527194" y="4073912"/>
            <a:ext cx="1004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1252EB95-A685-4EDC-8DAF-3C97AC89008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4769" y="4226083"/>
            <a:ext cx="1111261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BI's software services, applications, and connectors can transform your unprocessed data into engaging and dynamic visual insights.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promote data-driven decision-making by assisting you in connecting to various data sources, visualizing that data, and sharing the ensuing insights (such as dashboards and reports) throughout your company.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procedure involves cleaning and modeling data (from databases, cloud services, Excel, etc.) before presenting it in reports and dashboards that are simple to comprehend.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5F2440F-4824-4E9D-A1FE-B9A96C4A5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59" y="1393219"/>
            <a:ext cx="4767853" cy="25509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21FCB76-6E14-4C47-9718-5C2DCE7D9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349" y="1393219"/>
            <a:ext cx="4969192" cy="255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5468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9B8362-A9D7-0184-E9B3-8B527637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6" y="917377"/>
            <a:ext cx="10353761" cy="132632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Common Power BI Workflow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3D3D7B0B-ECB5-4B1E-8697-068C5F6E648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3793" y="1917561"/>
            <a:ext cx="10948006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a business analyst uses Power BI, the typical workflow is as follows: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Obtain Data: Use Power BI Desktop to establish a connection to your data sources (Excel, SQL, CSV, etc.).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 Data: Use the Power Query Editor to clean, combine, and shape the data. ETL (Extract, Transform, Load) is a common term for this.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Data: Use a formula language called DAX (Data Analysis Expressions) to write custom calculations and establish links between your data tables.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 and Report: In Power BI Desktop, drag and drop fields to make tables, charts, and maps on a report canvas.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Publish &amp; Share: To share the completed report with coworkers and arrange it into a dashboard, upload it to the Power BI Service.</a:t>
            </a:r>
          </a:p>
        </p:txBody>
      </p:sp>
    </p:spTree>
    <p:extLst>
      <p:ext uri="{BB962C8B-B14F-4D97-AF65-F5344CB8AC3E}">
        <p14:creationId xmlns:p14="http://schemas.microsoft.com/office/powerpoint/2010/main" xmlns="" val="363349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61615F-4949-E78E-CF8E-A147E53D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86562"/>
            <a:ext cx="10058400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The Role of a Target Column</a:t>
            </a:r>
            <a:endParaRPr lang="en-IN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0A7466E5-D8F9-46A1-A67F-4B6FDAFCDAC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6800" y="4499674"/>
            <a:ext cx="103441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target column's primary use is to make performance tracking and variance analysis easier. It enables users to rapidly determine whether the actual outcomes are better or worse than anticipated.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D69F671-1ACA-42A4-8241-E728BD26E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837" y="1510512"/>
            <a:ext cx="4886325" cy="266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4880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BB8085-1FFF-44DD-A144-D794D923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POWER BI</a:t>
            </a:r>
            <a:br>
              <a:rPr lang="en-US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TOPICS DASHBOARD!!</a:t>
            </a:r>
          </a:p>
        </p:txBody>
      </p:sp>
      <p:graphicFrame>
        <p:nvGraphicFramePr>
          <p:cNvPr id="5" name="Content Placeholder 2" descr="SmartArt Process Diagram">
            <a:extLst>
              <a:ext uri="{FF2B5EF4-FFF2-40B4-BE49-F238E27FC236}">
                <a16:creationId xmlns:a16="http://schemas.microsoft.com/office/drawing/2014/main" xmlns="" id="{60233515-42BF-4401-AB7F-458C06159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213263399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383377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A3802E-326A-005E-0A60-A95E6C22D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EXCEL SHEETS USED AS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14132E1-3B93-6145-3E4C-4812EE5F1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0799" y="2055108"/>
            <a:ext cx="4879199" cy="823912"/>
          </a:xfrm>
        </p:spPr>
        <p:txBody>
          <a:bodyPr/>
          <a:lstStyle/>
          <a:p>
            <a:r>
              <a:rPr lang="en-IN" dirty="0"/>
              <a:t>CAR BRANDS DETAILS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786911C-730C-3D9A-6288-7052C7135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MUSIC ARTIST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38FAE972-2350-4879-A137-000A52F5F4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4400" y="2975225"/>
            <a:ext cx="5106988" cy="2752224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xmlns="" id="{DDBC5DE3-14C0-45D3-A41A-6900FA4ABA8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975225"/>
            <a:ext cx="5095875" cy="2752223"/>
          </a:xfrm>
        </p:spPr>
      </p:pic>
    </p:spTree>
    <p:extLst>
      <p:ext uri="{BB962C8B-B14F-4D97-AF65-F5344CB8AC3E}">
        <p14:creationId xmlns:p14="http://schemas.microsoft.com/office/powerpoint/2010/main" xmlns="" val="196450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0A806C-E440-4DE0-5FD1-7AEFFB62B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2235200"/>
            <a:ext cx="9001462" cy="23876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tx1">
                    <a:lumMod val="75000"/>
                  </a:schemeClr>
                </a:solidFill>
              </a:rPr>
              <a:t>DATASET REGARDING CARS BRAND DETAILS (DATA CLEANING , DATA MODELING &amp; DATA VISUALIZATION)</a:t>
            </a:r>
            <a:br>
              <a:rPr lang="en-US" sz="4000" dirty="0">
                <a:solidFill>
                  <a:schemeClr val="tx1">
                    <a:lumMod val="75000"/>
                  </a:schemeClr>
                </a:solidFill>
              </a:rPr>
            </a:br>
            <a:endParaRPr lang="en-IN" sz="40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7500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449188FC-1111-3DDC-0A40-D0D12631B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8002" y="515155"/>
            <a:ext cx="3479952" cy="21880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DATASET OF CAR BRAND DETAILS</a:t>
            </a:r>
            <a:endParaRPr lang="en-IN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B3B7945-BFDA-4658-7084-742479EC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92598" y="2870756"/>
            <a:ext cx="3255356" cy="1284089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SCREEN SHOT OF DATASET USED TO CREATE DATASET </a:t>
            </a:r>
            <a:endParaRPr lang="en-IN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A9576A2-3A55-4F65-A6A8-0EEA2C708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6" y="556640"/>
            <a:ext cx="8404169" cy="578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4188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E1C2B88-7822-058B-421D-DD01AE95C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5319" y="479446"/>
            <a:ext cx="5450813" cy="155834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SPLIT COLUMN</a:t>
            </a:r>
            <a:endParaRPr lang="en-IN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F593C90-1E29-4823-9F14-863CBD1DA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8" y="375200"/>
            <a:ext cx="8333023" cy="610760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xmlns="" id="{9B1D5B76-36BD-47BF-BB30-CEF0E9277F7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507201" y="2142037"/>
            <a:ext cx="3350339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the column according to position, character length, and delimiter.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lowercase to uppercase and vice versa -VERSA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to non-digital and vice versa</a:t>
            </a:r>
          </a:p>
        </p:txBody>
      </p:sp>
    </p:spTree>
    <p:extLst>
      <p:ext uri="{BB962C8B-B14F-4D97-AF65-F5344CB8AC3E}">
        <p14:creationId xmlns:p14="http://schemas.microsoft.com/office/powerpoint/2010/main" xmlns="" val="4008680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26666FE0-5C3B-C61D-7599-FE5F4FAE3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2350" y="991671"/>
            <a:ext cx="4530536" cy="1271789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CONDITION COLUMN</a:t>
            </a:r>
            <a:endParaRPr lang="en-IN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BE4233F-F5E9-4F3D-8CEE-8B0006EE1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21" y="413242"/>
            <a:ext cx="8435661" cy="6026196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5B216B42-EA83-4ED9-9F25-AA127EF9E70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743236" y="2361464"/>
            <a:ext cx="344876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data transformation, you can use Power BI's Conditional Column tool to generate a new column based on IF/THEN/ELSE logic applied to the values of other columns in your table.</a:t>
            </a:r>
          </a:p>
        </p:txBody>
      </p:sp>
    </p:spTree>
    <p:extLst>
      <p:ext uri="{BB962C8B-B14F-4D97-AF65-F5344CB8AC3E}">
        <p14:creationId xmlns:p14="http://schemas.microsoft.com/office/powerpoint/2010/main" xmlns="" val="887384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F3492DD-84E9-BF77-4BBF-0D26356D8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4151" y="1784816"/>
            <a:ext cx="2452989" cy="37026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FORMAT</a:t>
            </a:r>
            <a:endParaRPr lang="en-IN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E3A37155-97B3-419E-9C08-5A8B23B5E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97" y="420378"/>
            <a:ext cx="8626261" cy="6017244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xmlns="" id="{3BE1456F-07BC-4612-9080-B89A9355AF3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028090" y="2155084"/>
            <a:ext cx="2865113" cy="133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 AIDS IN ADDING NEW COLUMNS OR MODIFYING EXISTING COLUMNS WITH FEATURES LIKE UPPERCASE,LOWERCASE,CAPITALIZE, TRIM, CLEAN &amp; PREFIX &amp;SUFFIX</a:t>
            </a:r>
          </a:p>
        </p:txBody>
      </p:sp>
    </p:spTree>
    <p:extLst>
      <p:ext uri="{BB962C8B-B14F-4D97-AF65-F5344CB8AC3E}">
        <p14:creationId xmlns:p14="http://schemas.microsoft.com/office/powerpoint/2010/main" xmlns="" val="2909152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D7444282-9991-D525-4BA0-DA14CA536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42" y="914400"/>
            <a:ext cx="3485882" cy="730876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>
                    <a:lumMod val="75000"/>
                  </a:schemeClr>
                </a:solidFill>
              </a:rPr>
              <a:t>DATE FUNCTION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B92626D-0838-FE83-92DA-9F66A0FE9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39781" y="1709426"/>
            <a:ext cx="3233203" cy="1811628"/>
          </a:xfrm>
        </p:spPr>
        <p:txBody>
          <a:bodyPr>
            <a:normAutofit/>
          </a:bodyPr>
          <a:lstStyle/>
          <a:p>
            <a:pPr algn="just"/>
            <a:r>
              <a:rPr lang="en-IN" sz="1200" dirty="0"/>
              <a:t>DATE FUNCTIONS ARE BEING USED TO CATAGORIZE THE DATE INTO  YEAR,MONTH,WEEK,</a:t>
            </a:r>
          </a:p>
          <a:p>
            <a:pPr algn="just"/>
            <a:r>
              <a:rPr lang="en-IN" sz="1200" dirty="0"/>
              <a:t>QUARTER,DAY OR IN TERMS OF 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120609B-72AA-479F-9CD9-C1BF88A47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47" y="396609"/>
            <a:ext cx="8642850" cy="624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92563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94B6B24C-5D1D-B97F-70BF-7429D204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710" y="515154"/>
            <a:ext cx="4556293" cy="1365161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CREATING RELATION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C8C1FE8-AF17-F7D0-1061-7740F02FD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44756" y="1880315"/>
            <a:ext cx="3266938" cy="2176530"/>
          </a:xfrm>
        </p:spPr>
        <p:txBody>
          <a:bodyPr>
            <a:normAutofit/>
          </a:bodyPr>
          <a:lstStyle/>
          <a:p>
            <a:pPr algn="l"/>
            <a:r>
              <a:rPr lang="en-IN" sz="1000" dirty="0"/>
              <a:t>CREATING NEW RELATIONSHIP HELP TO CREATE A LINK BETWEEN TWO TABLES OR MORE.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000" dirty="0"/>
              <a:t>ONE TO ONE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000" dirty="0"/>
              <a:t>ONE TO MANY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000" dirty="0"/>
              <a:t>MANY TO MANY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sz="1000" dirty="0"/>
              <a:t>MANY TO ONE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FEA47E7-3821-47E3-9F73-A8397EAE9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6" y="309765"/>
            <a:ext cx="8564449" cy="623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23706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A69187D9-146C-2865-F58B-6F5F967B6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4960" y="1188075"/>
            <a:ext cx="2817040" cy="79849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SUM FUNCTION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203038D-B975-B22A-44BC-406409FF2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74960" y="1986565"/>
            <a:ext cx="2817040" cy="2884869"/>
          </a:xfrm>
        </p:spPr>
        <p:txBody>
          <a:bodyPr>
            <a:normAutofit/>
          </a:bodyPr>
          <a:lstStyle/>
          <a:p>
            <a:pPr algn="just"/>
            <a:r>
              <a:rPr lang="en-IN" sz="1200" dirty="0"/>
              <a:t>SUM FUNCTION HELPS IN MAKLING A MATHEMATICS EXPRESSION SUCH AS ADDITION USED IN CLOUMN WITH NUMERIC CONTEXT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460CABD-39DF-44B2-B417-AA96716A0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83" y="423490"/>
            <a:ext cx="9181777" cy="609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8415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7E11BB2-802D-5A55-EB19-2D55AF1C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7436" y="1159098"/>
            <a:ext cx="2431279" cy="1155879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>
                    <a:lumMod val="75000"/>
                  </a:schemeClr>
                </a:solidFill>
              </a:rPr>
              <a:t>COUNT FUNCTION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B0EA378-DB22-3B39-6825-D5790E639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07436" y="2314977"/>
            <a:ext cx="2589260" cy="3429000"/>
          </a:xfrm>
        </p:spPr>
        <p:txBody>
          <a:bodyPr>
            <a:normAutofit/>
          </a:bodyPr>
          <a:lstStyle/>
          <a:p>
            <a:pPr algn="just"/>
            <a:r>
              <a:rPr lang="en-IN" sz="1000" dirty="0"/>
              <a:t>COUNT FUNCTION HELP IN FINDING TOTAL NUMBERS OF ROWS IN THE DATASET.</a:t>
            </a:r>
          </a:p>
          <a:p>
            <a:pPr algn="just"/>
            <a:r>
              <a:rPr lang="en-IN" sz="1000" dirty="0"/>
              <a:t>COUNT FUNCTION HAVE A SUB VARIENT NAMED DISTINCT COUNT HELPED TO COUNT THE NUMBER OF COLUMNS BY ELEMINATING DUPLICATE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8BD8C8E-DFD6-4883-9582-4AA68974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5" y="467850"/>
            <a:ext cx="9254151" cy="59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4275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E3B007D-A68B-A728-7834-02D579AD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1221" y="970208"/>
            <a:ext cx="2830525" cy="121920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>
                    <a:lumMod val="75000"/>
                  </a:schemeClr>
                </a:solidFill>
              </a:rPr>
              <a:t>AVERAGE FUNCTION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1847D42-B2F1-06BB-C007-EC3500F89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11221" y="2331076"/>
            <a:ext cx="2830525" cy="2730321"/>
          </a:xfrm>
        </p:spPr>
        <p:txBody>
          <a:bodyPr>
            <a:normAutofit/>
          </a:bodyPr>
          <a:lstStyle/>
          <a:p>
            <a:pPr algn="just"/>
            <a:r>
              <a:rPr lang="en-IN" sz="1200" dirty="0"/>
              <a:t>AVERAGE FUNCTION IS BEEN USED TO FIND THE AVERAGE OF THE NUMERIC DATACOLUMN</a:t>
            </a:r>
          </a:p>
          <a:p>
            <a:pPr algn="just"/>
            <a:endParaRPr lang="en-IN" sz="1200" dirty="0"/>
          </a:p>
          <a:p>
            <a:pPr algn="just"/>
            <a:r>
              <a:rPr lang="en-IN" sz="1200" dirty="0"/>
              <a:t>USES FORMULA :</a:t>
            </a:r>
          </a:p>
          <a:p>
            <a:pPr algn="just"/>
            <a:r>
              <a:rPr lang="en-IN" sz="1200" dirty="0"/>
              <a:t>TOTAL OF DATA OR ELEMENTS / NO OF ELEMENTS </a:t>
            </a:r>
          </a:p>
          <a:p>
            <a:pPr algn="just"/>
            <a:endParaRPr lang="en-I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2EDDCE1-9C18-455D-8DBC-738E3E1DC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54" y="316812"/>
            <a:ext cx="9060967" cy="62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67990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A016B8-3AFB-5764-08AB-685B06A7D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918" y="313386"/>
            <a:ext cx="8912785" cy="40783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REPORT 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EB41D85-EB6D-4182-A694-5C0030B2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20" y="883344"/>
            <a:ext cx="11745531" cy="556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5593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C3241D-4765-4FC7-89A4-CD021EB4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51100"/>
            <a:ext cx="10353761" cy="1325563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2193749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333</TotalTime>
  <Words>447</Words>
  <Application>Microsoft Office PowerPoint</Application>
  <PresentationFormat>Custom</PresentationFormat>
  <Paragraphs>57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Damask</vt:lpstr>
      <vt:lpstr>Power BI</vt:lpstr>
      <vt:lpstr>INTRODUCTION TO POWER BI</vt:lpstr>
      <vt:lpstr>Common Power BI Workflow </vt:lpstr>
      <vt:lpstr>The Role of a Target Column</vt:lpstr>
      <vt:lpstr>POWER BI TOPICS DASHBOARD!!</vt:lpstr>
      <vt:lpstr>EXCEL SHEETS USED AS DATASET</vt:lpstr>
      <vt:lpstr>DATASET REGARDING CARS BRAND DETAILS (DATA CLEANING , DATA MODELING &amp; DATA VISUALIZATION) </vt:lpstr>
      <vt:lpstr>DATASET OF CAR BRAND DETAILS</vt:lpstr>
      <vt:lpstr>SPLIT COLUMN</vt:lpstr>
      <vt:lpstr>CONDITION COLUMN</vt:lpstr>
      <vt:lpstr>FORMAT</vt:lpstr>
      <vt:lpstr>DATE FUNCTION</vt:lpstr>
      <vt:lpstr>CREATING RELATION</vt:lpstr>
      <vt:lpstr>SUM FUNCTION</vt:lpstr>
      <vt:lpstr>COUNT FUNCTION</vt:lpstr>
      <vt:lpstr>AVERAGE FUNCTION</vt:lpstr>
      <vt:lpstr>REPORT VIEW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</dc:title>
  <dc:creator>anil kumar</dc:creator>
  <cp:lastModifiedBy>Admin</cp:lastModifiedBy>
  <cp:revision>15</cp:revision>
  <dcterms:created xsi:type="dcterms:W3CDTF">2025-12-07T09:12:57Z</dcterms:created>
  <dcterms:modified xsi:type="dcterms:W3CDTF">2025-12-08T06:57:08Z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